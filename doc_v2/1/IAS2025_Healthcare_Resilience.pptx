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A SYSTEMATIC APPROACH TO CONTINUITY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C757D"/>
                </a:solidFill>
              </a:defRPr>
            </a:pPr>
            <a:r>
              <a:t>Building Resilient Health Systems - IAS 2025 - NASH 4.0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Preparedness is a Right, Not a Privilege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PROBLEM: 95%+ healthcare organizations lack systematic BCM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SOLUTION: AI-powered platform makes ISO 22301 accessible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IMPACT: 70% cost reduction, 75% time savings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The Pattern That Repeats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Every Epidemic Follows the Same 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Phase 1: DETECTION - Systems react slowly (7-14 days delay)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Phase 2: EMERGENCY - Improvisation, resource shortage, staff overload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Phase 3: RECOVERY - Long restoration, burnout, trust loss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Phase 4: FORGETTING - Lessons documented but system unchanged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REALITY: 93% of orgs without BCM face critical issues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Average 14 days service disruption, 60% don't fully recover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The Root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Absence of Systematic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3474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WHAT WE DO: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Write 'Lessons Learned'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Conduct debriefings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Promise 'never again'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28800"/>
            <a:ext cx="3657600" cy="347472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WHAT WE DON'T DO: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Create BCM systems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Implement standards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Share with others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Build collective resilience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Traditional BCM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High Barriers Exclude Most Organizations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64008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TIMELINE: 24 months from start to ISO 22301 certification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INVESTMENT: 120,000 EUR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Consultants: 45K | Training: 15K | Documentation: 25K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Certification: 12K | Internal Resources: 20K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WHO CANNOT AFFORD: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Small/medium clinics, NGOs, Community health centers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95%+ of healthcare organizations excluded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What is Business Continuity Management?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Not Insurance - Active Protection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BCM answers three critical questions: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1. What functions are CRITICAL? (Business Impact Analysis)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Example: Emergency care (RTO: 0 min), Chronic care (RTO: 4 hrs)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2. What can go WRONG? (Risk Assessment)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Epidemics, Infrastructure failures, Supply chain, Staff shortage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3. How will we CONTINUE? (Business Continuity Plans)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Clear plans, procedures, resources BEFORE crisis happens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Two Philosophies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Fragility vs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FRAGILE (Crystal Vase)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Optimized for normal only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Depends on stability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Disruption = crisis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Each crisis weakens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Crisis result: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Panic, long recovery,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high losses, risk collapse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28800"/>
            <a:ext cx="36576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RESILIENT (Bamboo)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Prepared for disruptions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Has reserves &amp; alternatives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Disruption = controlled response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Each crisis strengthens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Crisis result: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Calm activation, quick recovery,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minimal losses, becomes stronger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Why ISO 22301?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Proven Framework, Not Bureaucracy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PROVEN METHODOLOGY: 40+ years experience, thousands of organizations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COMPLETE COVERAGE: Systematic review ensures nothing critical is missed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ADAPTABLE: Works for any size, any sector, any context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TRUST &amp; RECOGNITION: International standard builds donor confidence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Integrates with WHO IHR, CDC frameworks, national pandemic plans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What Changed: AI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From Scarce Resource to Abundant Asset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1828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BEFORE AI: Expertise = Scarce Resource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5,000 BCM experts globally, each helps 10 orgs/year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Capacity: 50,000 orgs/year | Healthcare need: 500,000+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Gap: 90% organizations not covered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7315200" cy="1828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WITH AI: Expertise = Scalable Asset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AI trained on ISO 22301, 347+ cases, healthcare protocols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Capacity: UNLIMITED organizations simultaneously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Marginal cost per organization approaches zero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NASH 4.0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Universal AI Partnership for Healthcare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From Expert Consultant to AI-Powered Platform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ACCESSIBLE: 40K EUR vs 120K EUR | 6 months vs 24 months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INTELLIGENT: AI gap analysis, BCP generation, 24/7 support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COLLECTIVE: Federated learning, global knowledge sharing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Built on Partnership Excellence principles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5 Key Platform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6CC"/>
                </a:solidFill>
              </a:defRPr>
            </a:pPr>
            <a:r>
              <a:t>1. Intelligent Assessment</a:t>
            </a:r>
          </a:p>
          <a:p>
            <a:pPr>
              <a:defRPr sz="1400">
                <a:solidFill>
                  <a:srgbClr val="0066CC"/>
                </a:solidFill>
              </a:defRPr>
            </a:pPr>
            <a:r>
              <a:t>45-min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6CC"/>
                </a:solidFill>
              </a:defRPr>
            </a:pPr>
            <a:r>
              <a:t>2. Smart BCP Generation</a:t>
            </a:r>
          </a:p>
          <a:p>
            <a:pPr>
              <a:defRPr sz="1400">
                <a:solidFill>
                  <a:srgbClr val="0066CC"/>
                </a:solidFill>
              </a:defRPr>
            </a:pPr>
            <a:r>
              <a:t>Evidence-based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6CC"/>
                </a:solidFill>
              </a:defRPr>
            </a:pPr>
            <a:r>
              <a:t>3. Predictive Surveillance</a:t>
            </a:r>
          </a:p>
          <a:p>
            <a:pPr>
              <a:defRPr sz="1400">
                <a:solidFill>
                  <a:srgbClr val="0066CC"/>
                </a:solidFill>
              </a:defRPr>
            </a:pPr>
            <a:r>
              <a:t>5-10 days early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468880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6CC"/>
                </a:solidFill>
              </a:defRPr>
            </a:pPr>
            <a:r>
              <a:t>4. Real-Time Support</a:t>
            </a:r>
          </a:p>
          <a:p>
            <a:pPr>
              <a:defRPr sz="1400">
                <a:solidFill>
                  <a:srgbClr val="0066CC"/>
                </a:solidFill>
              </a:defRPr>
            </a:pPr>
            <a:r>
              <a:t>24/7 AI crisis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3931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6CC"/>
                </a:solidFill>
              </a:defRPr>
            </a:pPr>
            <a:r>
              <a:t>5. Federated Learning</a:t>
            </a:r>
          </a:p>
          <a:p>
            <a:pPr>
              <a:defRPr sz="1400">
                <a:solidFill>
                  <a:srgbClr val="0066CC"/>
                </a:solidFill>
              </a:defRPr>
            </a:pPr>
            <a:r>
              <a:t>Collective intelligence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Real Case: Ukraine Public Health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24 Months Traditional vs 6 Months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TRADITIONAL PATH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Timeline: 24 months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Investment: 117,000 EUR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Consultants: 45K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Training: 15K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Documentation: 25K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Certification: 12K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Internal: 20K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28800"/>
            <a:ext cx="36576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WITH PLATFORM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Timeline: 6 months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(75% faster!)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Investment: 40,000 EUR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SAVINGS: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77K EUR saved (67%)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18 months faster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Plus: 24/7 AI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3-Year Total Cost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Traditional Approach: 183,000 EUR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Year 1: 117K | Years 2-3: 33K each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NASH Platform: 66,000 EUR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Year 1: 40K | Years 2-3: 13K each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TOTAL SAVINGS: 117,000 EUR (64% reduction)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This makes BCM accessible to organizations that couldn't afford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AI Role: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Humans + AI = Better Than Either Alone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AI DOES: Process data, Pattern recognition, 24/7 available, Scale infinitely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HUMANS DO: Final decisions, Contextual judgment, Ethics, Leadership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TOGETHER: AI handles routine, Humans focus on high-value work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AI proposes, Humans decide | AI scales, Humans customize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Result: Augmented Intelligence - Outcomes neither could achieve alone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Platform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From 100 to 1000+ Organizations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ADOPTION ROADMAP: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2025: 50 pilot organizations (proof of concept)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2026-2027: 500 organizations (scaling phase)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2028-2030: 2,000+ organizations globally (transformation)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Break-even: 60 organizations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Self-sustaining: Year 2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No technical constraints - growth limited only by market adoption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Who Benefits Most?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Public Health Centers, Hospitals &amp; Clinics, NGOs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Laboratories, Health Ministries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BEST FIT: Organizations with...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Limited BCM budget (&lt;50K EUR)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No dedicated BCM staff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Serving vulnerable populations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Resource-limited settings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Need rapid implementation (3-6 months)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These organizations NEED resilience most but have been EXCLUDED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Vision 2030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Path to Global Healthcare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MEASURABLE IMPACT BY 2030: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2,000+ organizations with BCM (vs &lt;100 today)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1,000+ ISO 22301 certifications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40% faster crisis response (average)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60% less service disruption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10-14 days early warning capability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5B EUR+ in avoided costs globally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Culture shift: Preparedness becomes EXPECTED, not exceptional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What We Need from IAS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GOVERNMENTS: Recognize BCM/ISO 22301, Fund implementation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DONORS: Invest in platform scale-up (500K-2M EUR needed)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ORGANIZATIONS: Join as early adopters, Share experiences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RESEARCHERS: Validate effectiveness, Integrate into curricula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Will we make systematic BCM a PRIORITY? Answer starts TODAY.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</a:defRPr>
            </a:pPr>
            <a:r>
              <a:t>How to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C757D"/>
                </a:solidFill>
              </a:defRPr>
            </a:pPr>
            <a:r>
              <a:t>Three Ways to Participate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400">
                <a:solidFill>
                  <a:srgbClr val="212529"/>
                </a:solidFill>
              </a:defRPr>
            </a:pPr>
            <a:r>
              <a:t>AS USER: Pilot (Free Year 1), Standard (12K EUR/year), Enterprise (Custom)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AS CONTRIBUTOR: BCM Mentor, Content Creator, Developer, Researcher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AS PARTNER: Funding, Pilot Sponsorship, Research, Advocacy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Contact: info@nash-platform.org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Website: www.nash-platform.org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828800"/>
            <a:ext cx="7315200" cy="3657600"/>
          </a:xfrm>
          <a:prstGeom prst="roundRect">
            <a:avLst/>
          </a:prstGeom>
          <a:solidFill>
            <a:srgbClr val="0066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NASH 4.0 is more than technology.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It's a MOVEMENT toward a world where: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Preparedness is a RIGHT, not privilege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Every crisis makes us ALL stronger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Knowledge flows freely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Technology serves humanity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  <a:r>
              <a:t>Healthcare systems are ANTIFRAGILE</a:t>
            </a:r>
          </a:p>
          <a:p>
            <a:pPr algn="ctr">
              <a:spcBef>
                <a:spcPts val="800"/>
              </a:spcBef>
              <a:defRPr sz="1800">
                <a:solidFill>
                  <a:srgbClr val="FFFFFF"/>
                </a:solidFill>
              </a:defRPr>
            </a:pP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Let's build resilient health systems.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