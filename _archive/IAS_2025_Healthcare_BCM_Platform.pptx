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>
                <a:solidFill>
                  <a:srgbClr val="277884"/>
                </a:solidFill>
              </a:defRPr>
            </a:pPr>
            <a:r>
              <a:t>Cost Comparison ($000s)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Traditional</c:v>
                </c:pt>
              </c:strCache>
            </c:strRef>
          </c:tx>
          <c:spPr>
            <a:solidFill>
              <a:srgbClr val="FE4447"/>
            </a:solidFill>
          </c:spPr>
          <c:cat>
            <c:strRef>
              <c:f>Sheet1!$A$2:$A$4</c:f>
              <c:strCache>
                <c:ptCount val="3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125</c:v>
                </c:pt>
                <c:pt idx="1">
                  <c:v>15</c:v>
                </c:pt>
                <c:pt idx="2">
                  <c:v>15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Platform</c:v>
                </c:pt>
              </c:strCache>
            </c:strRef>
          </c:tx>
          <c:spPr>
            <a:solidFill>
              <a:srgbClr val="5EA8A7"/>
            </a:solidFill>
          </c:spPr>
          <c:cat>
            <c:strRef>
              <c:f>Sheet1!$A$2:$A$4</c:f>
              <c:strCache>
                <c:ptCount val="3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36</c:v>
                </c:pt>
                <c:pt idx="1">
                  <c:v>7</c:v>
                </c:pt>
                <c:pt idx="2">
                  <c:v>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/>
                </a:pPr>
                <a:r>
                  <a:t>Year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pPr>
                  <a:defRPr sz="1100"/>
                </a:pPr>
                <a:r>
                  <a:t>Cost (Thousands USD)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>
      <c:legendPos val="t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7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AI-Powered Business Continuity</a:t>
            </a:r>
            <a:br/>
            <a:r>
              <a:t>for Healthcare Organizations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2560320"/>
            <a:ext cx="3657600" cy="73152"/>
          </a:xfrm>
          <a:prstGeom prst="rect">
            <a:avLst/>
          </a:prstGeom>
          <a:solidFill>
            <a:srgbClr val="5EA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E4447"/>
                </a:solidFill>
              </a:defRPr>
            </a:pPr>
            <a:r>
              <a:t>Democratizing Resilience: From $100K Consultants to $0 Preparation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ECF0F1"/>
                </a:solidFill>
              </a:defRPr>
            </a:pPr>
            <a:r>
              <a:t>International AIDS Society Conference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5EA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The Crisis We Witnessed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77884"/>
                </a:solidFill>
              </a:defRPr>
            </a:pPr>
            <a:r>
              <a:t>Ukraine 2022-2024: National Laboratory System Under Fire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• Missile attacks on HIV/TB/COVID diagnostic facilities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• 6-12 hour electricity blackouts daily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1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• Sophisticated cyberattacks on health infrastructure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097281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• Supply chain disruptions for critical reagents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097281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• Staff evacuation and remote work requirements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657600"/>
            <a:ext cx="8229600" cy="822960"/>
          </a:xfrm>
          <a:prstGeom prst="rect">
            <a:avLst/>
          </a:prstGeom>
          <a:solidFill>
            <a:srgbClr val="ECF0F1"/>
          </a:solidFill>
          <a:ln w="76200">
            <a:solidFill>
              <a:srgbClr val="FE44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749039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C3E50"/>
                </a:solidFill>
              </a:defRPr>
            </a:pPr>
            <a:r>
              <a:t>ISO 22301 Business Continuity → </a:t>
            </a:r>
            <a:r>
              <a:rPr b="1" sz="1500">
                <a:solidFill>
                  <a:srgbClr val="FE4447"/>
                </a:solidFill>
              </a:rPr>
              <a:t>92% operational continuity</a:t>
            </a:r>
          </a:p>
          <a:p>
            <a:pPr>
              <a:defRPr sz="1500" b="1">
                <a:solidFill>
                  <a:srgbClr val="FE4447"/>
                </a:solidFill>
              </a:defRPr>
            </a:pPr>
            <a:r>
              <a:t>But it cost </a:t>
            </a:r>
            <a:r>
              <a:rPr sz="2000" b="1"/>
              <a:t>$50,000-100,000</a:t>
            </a:r>
            <a:r>
              <a:rPr sz="1500"/>
              <a:t> to help ONE organization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5EA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The Global Challenge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920240" cy="1188720"/>
          </a:xfrm>
          <a:prstGeom prst="rect">
            <a:avLst/>
          </a:prstGeom>
          <a:solidFill>
            <a:srgbClr val="277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92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E4447"/>
                </a:solidFill>
              </a:defRPr>
            </a:pPr>
            <a:r>
              <a:t>15,000+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HIV/AIDS Programs</a:t>
            </a:r>
            <a:br/>
            <a:r>
              <a:t>Worldwide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0" y="1097280"/>
            <a:ext cx="1920240" cy="1188720"/>
          </a:xfrm>
          <a:prstGeom prst="rect">
            <a:avLst/>
          </a:prstGeom>
          <a:solidFill>
            <a:srgbClr val="277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77440" y="1097280"/>
            <a:ext cx="192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E4447"/>
                </a:solidFill>
              </a:defRPr>
            </a:pPr>
            <a:r>
              <a:t>50,000+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10972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Health NGOs</a:t>
            </a:r>
            <a:br/>
            <a:r>
              <a:t>Globally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86000"/>
            <a:ext cx="1920240" cy="1188720"/>
          </a:xfrm>
          <a:prstGeom prst="rect">
            <a:avLst/>
          </a:prstGeom>
          <a:solidFill>
            <a:srgbClr val="277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286000"/>
            <a:ext cx="192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E4447"/>
                </a:solidFill>
              </a:defRPr>
            </a:pPr>
            <a:r>
              <a:t>~500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2860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Organizations with</a:t>
            </a:r>
            <a:br/>
            <a:r>
              <a:t>BCM Certification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77440" y="2286000"/>
            <a:ext cx="1920240" cy="1188720"/>
          </a:xfrm>
          <a:prstGeom prst="rect">
            <a:avLst/>
          </a:prstGeom>
          <a:solidFill>
            <a:srgbClr val="277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77440" y="2286000"/>
            <a:ext cx="192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E4447"/>
                </a:solidFill>
              </a:defRPr>
            </a:pPr>
            <a:r>
              <a:t>95%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22860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Cannot Afford</a:t>
            </a:r>
            <a:br/>
            <a:r>
              <a:t>Consultants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0" y="1371600"/>
            <a:ext cx="3931920" cy="2103120"/>
          </a:xfrm>
          <a:prstGeom prst="rect">
            <a:avLst/>
          </a:prstGeom>
          <a:solidFill>
            <a:srgbClr val="ECF0F1"/>
          </a:solidFill>
          <a:ln w="76200">
            <a:solidFill>
              <a:srgbClr val="FE44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0" y="1645920"/>
            <a:ext cx="374903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C3E50"/>
                </a:solidFill>
              </a:defRPr>
            </a:pPr>
            <a:r>
              <a:t>Resilience is a luxury good when it should be a basic right for organizations saving lives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5EA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The Solution: AI-Powered Platform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2743200" cy="2377440"/>
          </a:xfrm>
          <a:prstGeom prst="rect">
            <a:avLst/>
          </a:prstGeom>
          <a:solidFill>
            <a:srgbClr val="ECF0F1"/>
          </a:solidFill>
          <a:ln w="76200">
            <a:solidFill>
              <a:srgbClr val="2778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E4447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274319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77884"/>
                </a:solidFill>
              </a:defRPr>
            </a:pPr>
            <a:r>
              <a:t>PREPARATION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97281"/>
            <a:ext cx="274319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Self-guided BCM</a:t>
            </a:r>
            <a:br/>
            <a:r>
              <a:t>with AI assistance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097281"/>
            <a:ext cx="274319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C3E50"/>
                </a:solidFill>
              </a:defRPr>
            </a:pPr>
            <a:r>
              <a:t>6-12 months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097282"/>
            <a:ext cx="274319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E4447"/>
                </a:solidFill>
              </a:defRPr>
            </a:pPr>
            <a:r>
              <a:t>Cost: FREE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08960" y="1097280"/>
            <a:ext cx="2743200" cy="2377440"/>
          </a:xfrm>
          <a:prstGeom prst="rect">
            <a:avLst/>
          </a:prstGeom>
          <a:solidFill>
            <a:srgbClr val="ECF0F1"/>
          </a:solidFill>
          <a:ln w="76200">
            <a:solidFill>
              <a:srgbClr val="2778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08960" y="109728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E4447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1097280"/>
            <a:ext cx="274319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77884"/>
                </a:solidFill>
              </a:defRPr>
            </a:pPr>
            <a:r>
              <a:t>OPERATIONS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1097281"/>
            <a:ext cx="274319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Daily risk monitoring</a:t>
            </a:r>
            <a:br/>
            <a:r>
              <a:t>and crisis tools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1097281"/>
            <a:ext cx="274319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C3E50"/>
                </a:solidFill>
              </a:defRPr>
            </a:pPr>
            <a:r>
              <a:t>Continuous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1097282"/>
            <a:ext cx="274319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E4447"/>
                </a:solidFill>
              </a:defRPr>
            </a:pPr>
            <a:r>
              <a:t>Cost: $0-200/mo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52160" y="1097280"/>
            <a:ext cx="2743200" cy="2377440"/>
          </a:xfrm>
          <a:prstGeom prst="rect">
            <a:avLst/>
          </a:prstGeom>
          <a:solidFill>
            <a:srgbClr val="ECF0F1"/>
          </a:solidFill>
          <a:ln w="76200">
            <a:solidFill>
              <a:srgbClr val="2778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60" y="109728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E4447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0" y="1097280"/>
            <a:ext cx="274319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77884"/>
                </a:solidFill>
              </a:defRPr>
            </a:pPr>
            <a:r>
              <a:t>CERTIFICATION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1097281"/>
            <a:ext cx="274319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Independent auditor</a:t>
            </a:r>
            <a:br/>
            <a:r>
              <a:t>verification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0" y="1097281"/>
            <a:ext cx="274319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C3E50"/>
                </a:solidFill>
              </a:defRPr>
            </a:pPr>
            <a:r>
              <a:t>ISO 22301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1097282"/>
            <a:ext cx="274319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E4447"/>
                </a:solidFill>
              </a:defRPr>
            </a:pPr>
            <a:r>
              <a:t>Cost: $5-15K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C3E50"/>
                </a:solidFill>
              </a:defRPr>
            </a:pPr>
            <a:r>
              <a:t>Transform: $100K consultant dependency → $0 preparation + affordable audit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EA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Platform Capabilities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14400"/>
            <a:ext cx="2651760" cy="640080"/>
          </a:xfrm>
          <a:prstGeom prst="rect">
            <a:avLst/>
          </a:prstGeom>
          <a:solidFill>
            <a:srgbClr val="ECF0F1"/>
          </a:solidFill>
          <a:ln w="50800">
            <a:solidFill>
              <a:srgbClr val="2778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26517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77884"/>
                </a:solidFill>
              </a:defRPr>
            </a:pPr>
            <a:r>
              <a:t>AI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26517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C3E50"/>
                </a:solidFill>
              </a:defRPr>
            </a:pPr>
            <a:r>
              <a:t>Context analysis, risk scoring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914400"/>
            <a:ext cx="2651760" cy="640080"/>
          </a:xfrm>
          <a:prstGeom prst="rect">
            <a:avLst/>
          </a:prstGeom>
          <a:solidFill>
            <a:srgbClr val="ECF0F1"/>
          </a:solidFill>
          <a:ln w="50800">
            <a:solidFill>
              <a:srgbClr val="2778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914400"/>
            <a:ext cx="26517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77884"/>
                </a:solidFill>
              </a:defRPr>
            </a:pPr>
            <a:r>
              <a:t>Document Generator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914400"/>
            <a:ext cx="26517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C3E50"/>
                </a:solidFill>
              </a:defRPr>
            </a:pPr>
            <a:r>
              <a:t>Policies, BCPs, DRPs customized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0" y="914400"/>
            <a:ext cx="2651760" cy="640080"/>
          </a:xfrm>
          <a:prstGeom prst="rect">
            <a:avLst/>
          </a:prstGeom>
          <a:solidFill>
            <a:srgbClr val="ECF0F1"/>
          </a:solidFill>
          <a:ln w="50800">
            <a:solidFill>
              <a:srgbClr val="2778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0" y="914400"/>
            <a:ext cx="26517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77884"/>
                </a:solidFill>
              </a:defRPr>
            </a:pPr>
            <a:r>
              <a:t>Federated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914400"/>
            <a:ext cx="26517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C3E50"/>
                </a:solidFill>
              </a:defRPr>
            </a:pPr>
            <a:r>
              <a:t>Learn from peers, data private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554480"/>
            <a:ext cx="2651760" cy="640080"/>
          </a:xfrm>
          <a:prstGeom prst="rect">
            <a:avLst/>
          </a:prstGeom>
          <a:solidFill>
            <a:srgbClr val="ECF0F1"/>
          </a:solidFill>
          <a:ln w="50800">
            <a:solidFill>
              <a:srgbClr val="2778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1554480"/>
            <a:ext cx="26517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77884"/>
                </a:solidFill>
              </a:defRPr>
            </a:pPr>
            <a:r>
              <a:t>Real-Time Monitoring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1554480"/>
            <a:ext cx="26517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C3E50"/>
                </a:solidFill>
              </a:defRPr>
            </a:pPr>
            <a:r>
              <a:t>Epidemic, supply chain, cyber alerts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17520" y="1554480"/>
            <a:ext cx="2651760" cy="640080"/>
          </a:xfrm>
          <a:prstGeom prst="rect">
            <a:avLst/>
          </a:prstGeom>
          <a:solidFill>
            <a:srgbClr val="ECF0F1"/>
          </a:solidFill>
          <a:ln w="50800">
            <a:solidFill>
              <a:srgbClr val="2778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17520" y="1554480"/>
            <a:ext cx="26517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77884"/>
                </a:solidFill>
              </a:defRPr>
            </a:pPr>
            <a:r>
              <a:t>Scenario Simulation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1554480"/>
            <a:ext cx="26517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C3E50"/>
                </a:solidFill>
              </a:defRPr>
            </a:pPr>
            <a:r>
              <a:t>Practice crisis response safely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0" y="1554480"/>
            <a:ext cx="2651760" cy="640080"/>
          </a:xfrm>
          <a:prstGeom prst="rect">
            <a:avLst/>
          </a:prstGeom>
          <a:solidFill>
            <a:srgbClr val="ECF0F1"/>
          </a:solidFill>
          <a:ln w="50800">
            <a:solidFill>
              <a:srgbClr val="2778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0" y="1554480"/>
            <a:ext cx="26517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77884"/>
                </a:solidFill>
              </a:defRPr>
            </a:pPr>
            <a:r>
              <a:t>Incident Management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1554480"/>
            <a:ext cx="26517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C3E50"/>
                </a:solidFill>
              </a:defRPr>
            </a:pPr>
            <a:r>
              <a:t>Step-by-step emergency guidance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194560"/>
            <a:ext cx="2651760" cy="640080"/>
          </a:xfrm>
          <a:prstGeom prst="rect">
            <a:avLst/>
          </a:prstGeom>
          <a:solidFill>
            <a:srgbClr val="ECF0F1"/>
          </a:solidFill>
          <a:ln w="50800">
            <a:solidFill>
              <a:srgbClr val="2778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2194560"/>
            <a:ext cx="26517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77884"/>
                </a:solidFill>
              </a:defRPr>
            </a:pPr>
            <a:r>
              <a:t>Compliance 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2194560"/>
            <a:ext cx="26517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C3E50"/>
                </a:solidFill>
              </a:defRPr>
            </a:pPr>
            <a:r>
              <a:t>ISO 22301 readiness tracking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17520" y="2194560"/>
            <a:ext cx="2651760" cy="640080"/>
          </a:xfrm>
          <a:prstGeom prst="rect">
            <a:avLst/>
          </a:prstGeom>
          <a:solidFill>
            <a:srgbClr val="ECF0F1"/>
          </a:solidFill>
          <a:ln w="50800">
            <a:solidFill>
              <a:srgbClr val="2778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17520" y="2194560"/>
            <a:ext cx="26517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77884"/>
                </a:solidFill>
              </a:defRPr>
            </a:pPr>
            <a:r>
              <a:t>AI Assistant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7520" y="2194560"/>
            <a:ext cx="26517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C3E50"/>
                </a:solidFill>
              </a:defRPr>
            </a:pPr>
            <a:r>
              <a:t>Instant BCM answers, sector-specific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0" y="2194560"/>
            <a:ext cx="2651760" cy="640080"/>
          </a:xfrm>
          <a:prstGeom prst="rect">
            <a:avLst/>
          </a:prstGeom>
          <a:solidFill>
            <a:srgbClr val="ECF0F1"/>
          </a:solidFill>
          <a:ln w="50800">
            <a:solidFill>
              <a:srgbClr val="2778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0" y="2194560"/>
            <a:ext cx="26517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77884"/>
                </a:solidFill>
              </a:defRPr>
            </a:pPr>
            <a:r>
              <a:t>Auditor Marketplace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0" y="2194560"/>
            <a:ext cx="26517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C3E50"/>
                </a:solidFill>
              </a:defRPr>
            </a:pPr>
            <a:r>
              <a:t>Transparent pricing, pre-prepared orgs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EA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Real-World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77884"/>
                </a:solidFill>
              </a:defRPr>
            </a:pPr>
            <a:r>
              <a:t>ARV Supply Chain Disruption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3931920" cy="548640"/>
          </a:xfrm>
          <a:prstGeom prst="rect">
            <a:avLst/>
          </a:prstGeom>
          <a:solidFill>
            <a:srgbClr val="FCE4E4"/>
          </a:solidFill>
          <a:ln w="50800">
            <a:solidFill>
              <a:srgbClr val="FE44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0392B"/>
                </a:solidFill>
              </a:defRPr>
            </a:pPr>
            <a:r>
              <a:t>WITHOUT: </a:t>
            </a:r>
            <a:r>
              <a:rPr sz="1000">
                <a:solidFill>
                  <a:srgbClr val="2C3E50"/>
                </a:solidFill>
              </a:rPr>
              <a:t>127 patients missed doses. 8 developed resistance.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914400"/>
            <a:ext cx="3931920" cy="548640"/>
          </a:xfrm>
          <a:prstGeom prst="rect">
            <a:avLst/>
          </a:prstGeom>
          <a:solidFill>
            <a:srgbClr val="E8F5F4"/>
          </a:solidFill>
          <a:ln w="50800">
            <a:solidFill>
              <a:srgbClr val="5EA8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91440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77884"/>
                </a:solidFill>
              </a:defRPr>
            </a:pPr>
            <a:r>
              <a:t>WITH: </a:t>
            </a:r>
            <a:r>
              <a:rPr sz="1000">
                <a:solidFill>
                  <a:srgbClr val="2C3E50"/>
                </a:solidFill>
              </a:rPr>
              <a:t>Predicted 8 weeks ahead. 0 patients missed doses.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14401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77884"/>
                </a:solidFill>
              </a:defRPr>
            </a:pPr>
            <a:r>
              <a:t>Cyberattack / Ransomware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914401"/>
            <a:ext cx="3931920" cy="548640"/>
          </a:xfrm>
          <a:prstGeom prst="rect">
            <a:avLst/>
          </a:prstGeom>
          <a:solidFill>
            <a:srgbClr val="FCE4E4"/>
          </a:solidFill>
          <a:ln w="50800">
            <a:solidFill>
              <a:srgbClr val="FE44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914401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0392B"/>
                </a:solidFill>
              </a:defRPr>
            </a:pPr>
            <a:r>
              <a:t>WITHOUT: </a:t>
            </a:r>
            <a:r>
              <a:rPr sz="1000">
                <a:solidFill>
                  <a:srgbClr val="2C3E50"/>
                </a:solidFill>
              </a:rPr>
              <a:t>$25K ransom. 2 weeks downtime. $40K+ cost.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0" y="914401"/>
            <a:ext cx="3931920" cy="548640"/>
          </a:xfrm>
          <a:prstGeom prst="rect">
            <a:avLst/>
          </a:prstGeom>
          <a:solidFill>
            <a:srgbClr val="E8F5F4"/>
          </a:solidFill>
          <a:ln w="50800">
            <a:solidFill>
              <a:srgbClr val="5EA8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914401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77884"/>
                </a:solidFill>
              </a:defRPr>
            </a:pPr>
            <a:r>
              <a:t>WITH: </a:t>
            </a:r>
            <a:r>
              <a:rPr sz="1000">
                <a:solidFill>
                  <a:srgbClr val="2C3E50"/>
                </a:solidFill>
              </a:rPr>
              <a:t>Restored in 2 hours. $500 cost, 0 data loss.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914402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77884"/>
                </a:solidFill>
              </a:defRPr>
            </a:pPr>
            <a:r>
              <a:t>Funding Gap (Global Fund Delay)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14402"/>
            <a:ext cx="3931920" cy="548640"/>
          </a:xfrm>
          <a:prstGeom prst="rect">
            <a:avLst/>
          </a:prstGeom>
          <a:solidFill>
            <a:srgbClr val="FCE4E4"/>
          </a:solidFill>
          <a:ln w="50800">
            <a:solidFill>
              <a:srgbClr val="FE44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914402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0392B"/>
                </a:solidFill>
              </a:defRPr>
            </a:pPr>
            <a:r>
              <a:t>WITHOUT: </a:t>
            </a:r>
            <a:r>
              <a:rPr sz="1000">
                <a:solidFill>
                  <a:srgbClr val="2C3E50"/>
                </a:solidFill>
              </a:rPr>
              <a:t>40% service cuts. 15% patients dropped out.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0" y="914402"/>
            <a:ext cx="3931920" cy="548640"/>
          </a:xfrm>
          <a:prstGeom prst="rect">
            <a:avLst/>
          </a:prstGeom>
          <a:solidFill>
            <a:srgbClr val="E8F5F4"/>
          </a:solidFill>
          <a:ln w="50800">
            <a:solidFill>
              <a:srgbClr val="5EA8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0" y="914402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77884"/>
                </a:solidFill>
              </a:defRPr>
            </a:pPr>
            <a:r>
              <a:t>WITH: </a:t>
            </a:r>
            <a:r>
              <a:rPr sz="1000">
                <a:solidFill>
                  <a:srgbClr val="2C3E50"/>
                </a:solidFill>
              </a:rPr>
              <a:t>Predicted 6 weeks ahead. 0% disruption.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71600" y="4297680"/>
            <a:ext cx="6400800" cy="457200"/>
          </a:xfrm>
          <a:prstGeom prst="rect">
            <a:avLst/>
          </a:prstGeom>
          <a:solidFill>
            <a:srgbClr val="277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63040" y="4389120"/>
            <a:ext cx="6217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Lives saved through continuity of care during crises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EA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Cost Comparison (3 Years)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3657600" cy="10972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77884"/>
                </a:solidFill>
              </a:defRPr>
            </a:pPr>
            <a:r>
              <a:t>Traditional Model</a:t>
            </a:r>
          </a:p>
          <a:p>
            <a:pPr>
              <a:spcAft>
                <a:spcPts val="800"/>
              </a:spcAft>
              <a:defRPr sz="1200">
                <a:solidFill>
                  <a:srgbClr val="2C3E50"/>
                </a:solidFill>
              </a:defRPr>
            </a:pPr>
            <a:r>
              <a:t>Consulting: $80-125K</a:t>
            </a:r>
            <a:br/>
            <a:r>
              <a:t>Audit: $15-30K</a:t>
            </a:r>
            <a:br/>
            <a:r>
              <a:t>Annual: $8-15K/yr</a:t>
            </a:r>
          </a:p>
          <a:p>
            <a:pPr>
              <a:defRPr sz="1400" b="1">
                <a:solidFill>
                  <a:srgbClr val="FE4447"/>
                </a:solidFill>
              </a:defRPr>
            </a:pPr>
            <a:r>
              <a:t>Total: $111-185K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3657600" cy="10972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77884"/>
                </a:solidFill>
              </a:defRPr>
            </a:pPr>
            <a:r>
              <a:t>Platform Model</a:t>
            </a:r>
          </a:p>
          <a:p>
            <a:pPr>
              <a:spcAft>
                <a:spcPts val="800"/>
              </a:spcAft>
              <a:defRPr sz="1200">
                <a:solidFill>
                  <a:srgbClr val="2C3E50"/>
                </a:solidFill>
              </a:defRPr>
            </a:pPr>
            <a:r>
              <a:t>Platform: $0-2.4K/yr</a:t>
            </a:r>
            <a:br/>
            <a:r>
              <a:t>Audit: $5-15K</a:t>
            </a:r>
            <a:br/>
            <a:r>
              <a:t>Annual: $2-5K/yr</a:t>
            </a:r>
          </a:p>
          <a:p>
            <a:pPr>
              <a:defRPr sz="1400" b="1">
                <a:solidFill>
                  <a:srgbClr val="5EA8A7"/>
                </a:solidFill>
              </a:defRPr>
            </a:pPr>
            <a:r>
              <a:t>Total: $21-50K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291840"/>
            <a:ext cx="3657600" cy="914400"/>
          </a:xfrm>
          <a:prstGeom prst="rect">
            <a:avLst/>
          </a:prstGeom>
          <a:solidFill>
            <a:srgbClr val="277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429000"/>
            <a:ext cx="3474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E4447"/>
                </a:solidFill>
              </a:defRPr>
            </a:pPr>
            <a:r>
              <a:t>81-87%</a:t>
            </a:r>
          </a:p>
          <a:p>
            <a:pPr algn="ctr">
              <a:defRPr sz="1300">
                <a:solidFill>
                  <a:srgbClr val="FFFFFF"/>
                </a:solidFill>
              </a:defRPr>
            </a:pPr>
            <a:r>
              <a:t>Savings</a:t>
            </a:r>
            <a:br/>
            <a:r>
              <a:t>$90-135K Redirected to Patient Care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4572000" y="914400"/>
          <a:ext cx="411480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7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Resilience Cannot Cost $100,000</a:t>
            </a:r>
            <a:br/>
            <a:r>
              <a:t>Per Organization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0" y="2286000"/>
            <a:ext cx="2194560" cy="45720"/>
          </a:xfrm>
          <a:prstGeom prst="rect">
            <a:avLst/>
          </a:prstGeom>
          <a:solidFill>
            <a:srgbClr val="FE4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ECF0F1"/>
                </a:solidFill>
              </a:defRPr>
            </a:pPr>
            <a:r>
              <a:t>Technology + Human Expertise + Community</a:t>
            </a:r>
            <a:br/>
            <a:r>
              <a:t>= Democratized Resilience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3291840"/>
            <a:ext cx="548640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20240" y="338328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77884"/>
                </a:solidFill>
              </a:defRPr>
            </a:pPr>
            <a:r>
              <a:t>Contact Us</a:t>
            </a:r>
          </a:p>
          <a:p>
            <a:pPr algn="ctr">
              <a:spcBef>
                <a:spcPts val="1200"/>
              </a:spcBef>
              <a:defRPr sz="1300">
                <a:solidFill>
                  <a:srgbClr val="2C3E50"/>
                </a:solidFill>
              </a:defRPr>
            </a:pPr>
            <a:r>
              <a:t>Website: [platform].foundation</a:t>
            </a:r>
          </a:p>
          <a:p>
            <a:pPr algn="ctr">
              <a:spcBef>
                <a:spcPts val="400"/>
              </a:spcBef>
              <a:defRPr sz="1200">
                <a:solidFill>
                  <a:srgbClr val="5EA8A7"/>
                </a:solidFill>
              </a:defRPr>
            </a:pPr>
            <a:r>
              <a:t>Beta: beta@[platform].foundation</a:t>
            </a:r>
          </a:p>
          <a:p>
            <a:pPr algn="ctr">
              <a:spcBef>
                <a:spcPts val="400"/>
              </a:spcBef>
              <a:defRPr sz="1100">
                <a:solidFill>
                  <a:srgbClr val="5EA8A7"/>
                </a:solidFill>
              </a:defRPr>
            </a:pPr>
            <a:r>
              <a:t>Partnerships: partnerships@[platform].foundation</a:t>
            </a:r>
          </a:p>
          <a:p>
            <a:pPr algn="ctr">
              <a:spcBef>
                <a:spcPts val="400"/>
              </a:spcBef>
              <a:defRPr sz="1100">
                <a:solidFill>
                  <a:srgbClr val="5EA8A7"/>
                </a:solidFill>
              </a:defRPr>
            </a:pPr>
            <a:r>
              <a:t>Auditors: auditors@[platform].foundation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4572000"/>
            <a:ext cx="2194560" cy="45720"/>
          </a:xfrm>
          <a:prstGeom prst="rect">
            <a:avLst/>
          </a:prstGeom>
          <a:solidFill>
            <a:srgbClr val="FE4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20240" y="4617720"/>
            <a:ext cx="5303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C3E50"/>
                </a:solidFill>
              </a:defRPr>
            </a:pPr>
            <a:r>
              <a:t>IAS 2025 Conference | Booth TBD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